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194560" y="137160"/>
            <a:ext cx="7406640" cy="868680"/>
          </a:xfrm>
        </p:spPr>
        <p:txBody>
          <a:bodyPr/>
          <a:lstStyle/>
          <a:p>
            <a:r>
              <a:rPr sz="2000" b="1">
                <a:solidFill>
                  <a:srgbClr val="0B2545"/>
                </a:solidFill>
                <a:latin typeface="Arial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  <a:p>
            <a:r>
              <a:rPr sz="900" b="1">
                <a:solidFill>
                  <a:srgbClr val="EA580C"/>
                </a:solidFill>
                <a:latin typeface="Arial"/>
              </a:rPr>
              <a:t>OFFICIAL IDEA SUBMISSION  |  CYBER SECURITY &amp; AUTOMATION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CyberCore Slide 1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1234440"/>
            <a:ext cx="6217920" cy="2331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OFFICIAL PROJECT DOSSIER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Problem Statement ID: </a:t>
            </a:r>
            <a:r>
              <a:rPr sz="950">
                <a:solidFill>
                  <a:srgbClr val="1E293B"/>
                </a:solidFill>
                <a:latin typeface="Calibri"/>
              </a:rPr>
              <a:t>SIH26106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Problem Statement Title: </a:t>
            </a:r>
            <a:r>
              <a:rPr sz="950">
                <a:solidFill>
                  <a:srgbClr val="1E293B"/>
                </a:solidFill>
                <a:latin typeface="Calibri"/>
              </a:rPr>
              <a:t>AI-Powered Email Threat Detection, Geolocation &amp; Forensic Intelligence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Domain &amp; Category: </a:t>
            </a:r>
            <a:r>
              <a:rPr sz="950">
                <a:solidFill>
                  <a:srgbClr val="1E293B"/>
                </a:solidFill>
                <a:latin typeface="Calibri"/>
              </a:rPr>
              <a:t>Cyber Security / Smart Automation  •  Software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Institution &amp; Department: </a:t>
            </a:r>
            <a:r>
              <a:rPr sz="950">
                <a:solidFill>
                  <a:srgbClr val="1E293B"/>
                </a:solidFill>
                <a:latin typeface="Calibri"/>
              </a:rPr>
              <a:t>CVR College of Engineering  •  CSE (Cyber Security)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Team Name &amp; ID: </a:t>
            </a:r>
            <a:r>
              <a:rPr sz="950">
                <a:solidFill>
                  <a:srgbClr val="1E293B"/>
                </a:solidFill>
                <a:latin typeface="Calibri"/>
              </a:rPr>
              <a:t>CyberCore  •  [Registered on SIH Portal]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16A34A"/>
                </a:solidFill>
                <a:latin typeface="Arial"/>
              </a:rPr>
              <a:t>★ LIVE WORKING PROTOTYPE: </a:t>
            </a:r>
            <a:r>
              <a:rPr b="1" u="sng" sz="1000">
                <a:solidFill>
                  <a:srgbClr val="0B2545"/>
                </a:solidFill>
                <a:latin typeface="Arial"/>
              </a:rPr>
              <a:t>threatlens-gen.vercel.app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3703320"/>
            <a:ext cx="6217920" cy="2514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PROBLEM ANALYSIS &amp; THE GROUND REALITY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91% Initial Compromise Vector: </a:t>
            </a:r>
            <a:r>
              <a:rPr sz="900">
                <a:solidFill>
                  <a:srgbClr val="1E293B"/>
                </a:solidFill>
                <a:latin typeface="Calibri"/>
              </a:rPr>
              <a:t>Email remains the primary threat vector for Business Email Compromise (BEC), spearphishing, and credential theft across Indian enterprises.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Legacy Gateway Blindspots: </a:t>
            </a:r>
            <a:r>
              <a:rPr sz="900">
                <a:solidFill>
                  <a:srgbClr val="1E293B"/>
                </a:solidFill>
                <a:latin typeface="Calibri"/>
              </a:rPr>
              <a:t>Traditional Secure Email Gateways (SEGs) rely on static IP blacklists—completely blind to zero-day lookalike domains and compromised legitimate cloud relays.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Corporate Privacy Hazard: </a:t>
            </a:r>
            <a:r>
              <a:rPr sz="900">
                <a:solidFill>
                  <a:srgbClr val="1E293B"/>
                </a:solidFill>
                <a:latin typeface="Calibri"/>
              </a:rPr>
              <a:t>Forwarding confidential corporate emails to third-party cloud sandboxes violates GDPR and India's DPDP Act 2023 data sovereignty frameworks.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Frontline Telemetry Void: </a:t>
            </a:r>
            <a:r>
              <a:rPr sz="900">
                <a:solidFill>
                  <a:srgbClr val="1E293B"/>
                </a:solidFill>
                <a:latin typeface="Calibri"/>
              </a:rPr>
              <a:t>Security analysts are overwhelmed by fragmented text logs without unified cryptographic alignment or spatial geolocation telemetry.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194560" y="137160"/>
            <a:ext cx="7406640" cy="868680"/>
          </a:xfrm>
        </p:spPr>
        <p:txBody>
          <a:bodyPr wrap="square"/>
          <a:lstStyle/>
          <a:p>
            <a:pPr eaLnBrk="1" hangingPunct="1"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Arial"/>
              </a:rPr>
              <a:t>ZERO-TRUST EMAIL THREAT FORENSICS &amp; SPATIAL INTELLIGENCE</a:t>
            </a:r>
          </a:p>
          <a:p>
            <a:r>
              <a:rPr sz="1700" b="1">
                <a:solidFill>
                  <a:srgbClr val="0B2545"/>
                </a:solidFill>
                <a:latin typeface="Arial"/>
              </a:rPr>
              <a:t>IDEA TITLE: ThreatLens 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algn="ctr">
              <a:defRPr sz="850">
                <a:solidFill>
                  <a:srgbClr val="475569"/>
                </a:solidFill>
                <a:latin typeface="Calibri"/>
              </a:defRPr>
            </a:pPr>
            <a:r>
              <a:t>Smart India Hackathon 2026  |  Problem Statement ID: SIH26106  |  Team CyberCore  |  CVR College of Engineering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Oval CyberCore Slide 2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65760" y="1188720"/>
            <a:ext cx="548640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PROPOSED SOLUTION &amp; WORKFLOW DISRUPTION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1E293B"/>
                </a:solidFill>
                <a:latin typeface="Calibri"/>
              </a:rPr>
              <a:t>ThreatLens AI is a client-side zero-trust cybersecurity workstation that executes full RFC MIME header disassembly, unified cryptographic authentication, and 3D geospatial attack projection to neutralize email threats before user credential or monetary loss occurs.</a:t>
            </a: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000" b="1">
                <a:solidFill>
                  <a:srgbClr val="0B2545"/>
                </a:solidFill>
                <a:latin typeface="Arial"/>
              </a:rPr>
              <a:t>ARCHITECTURAL WORKFLOW TRANSFORMATION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EA580C"/>
                </a:solidFill>
                <a:latin typeface="Arial"/>
              </a:rPr>
              <a:t>• Centralized Cloud Sandbox ➔ Client-Side Zero-Trust:
  </a:t>
            </a:r>
            <a:r>
              <a:rPr sz="900">
                <a:solidFill>
                  <a:srgbClr val="1E293B"/>
                </a:solidFill>
                <a:latin typeface="Calibri"/>
              </a:rPr>
              <a:t>Legacy tools upload sensitive emails to vendor cloud servers. ThreatLens parses 100% of headers locally in browser memory—zero email contents ever leak outside the host boundary.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EA580C"/>
                </a:solidFill>
                <a:latin typeface="Arial"/>
              </a:rPr>
              <a:t>• Fragmented Terminal Commands ➔ Unified Triage Matrix:
  </a:t>
            </a:r>
            <a:r>
              <a:rPr sz="900">
                <a:solidFill>
                  <a:srgbClr val="1E293B"/>
                </a:solidFill>
                <a:latin typeface="Calibri"/>
              </a:rPr>
              <a:t>Replaces 4–6 isolated text utilities (dig, whois, header decoders) with a single-pane correlation dashboard evaluating Envelope vs. Header authenticity in seconds.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EA580C"/>
                </a:solidFill>
                <a:latin typeface="Arial"/>
              </a:rPr>
              <a:t>• Multi-Identity Spoof Elimination:
  </a:t>
            </a:r>
            <a:r>
              <a:rPr sz="900">
                <a:solidFill>
                  <a:srgbClr val="1E293B"/>
                </a:solidFill>
                <a:latin typeface="Calibri"/>
              </a:rPr>
              <a:t>Simultaneously disassembles Header-From, Envelope-From (Return-Path), and Reply-To, immediately neutralizing unauthorized cloud relay routing.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035040" y="1188720"/>
            <a:ext cx="576072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INNOVATION &amp; TECHNICAL UNIQUENESS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6A34A"/>
                </a:solidFill>
                <a:latin typeface="Arial"/>
              </a:rPr>
              <a:t>★ LIVE PRODUCTION WORKSTATION:
</a:t>
            </a:r>
            <a:r>
              <a:rPr sz="1100" b="1" u="sng">
                <a:solidFill>
                  <a:srgbClr val="0B2545"/>
                </a:solidFill>
                <a:latin typeface="Arial"/>
              </a:rPr>
              <a:t>https://threatlens-gen.vercel.app
</a:t>
            </a:r>
            <a:r>
              <a:rPr sz="850">
                <a:solidFill>
                  <a:srgbClr val="475569"/>
                </a:solidFill>
                <a:latin typeface="Calibri"/>
              </a:rPr>
              <a:t>Fully Deployed • 64/64 Verified Test Cases • Open for Evaluator Testing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Unified Cryptographic Alignment: </a:t>
            </a:r>
            <a:r>
              <a:rPr sz="900">
                <a:solidFill>
                  <a:srgbClr val="1E293B"/>
                </a:solidFill>
                <a:latin typeface="Calibri"/>
              </a:rPr>
              <a:t>Evaluates SPF, DKIM, and DMARC side-by-side on a single screen with real DNS TXT snippets, alignment statuses, and plain-language diagnostic explanations.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3D Geospatial Threat Telemetry: </a:t>
            </a:r>
            <a:r>
              <a:rPr sz="900">
                <a:solidFill>
                  <a:srgbClr val="1E293B"/>
                </a:solidFill>
                <a:latin typeface="Calibri"/>
              </a:rPr>
              <a:t>Translates abstract intermediate IP routing hops into interactive 3D geospatial trajectories, empowering SOC teams to identify coordinate-level adversary clusters instantly.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Instant Forensic Dossier Export: </a:t>
            </a:r>
            <a:r>
              <a:rPr sz="900">
                <a:solidFill>
                  <a:srgbClr val="1E293B"/>
                </a:solidFill>
                <a:latin typeface="Calibri"/>
              </a:rPr>
              <a:t>Converts raw RFC headers and extracted artifacts into court-admissible, audit-ready PDF forensic incident reports with a single click.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Three-Discipline Synthesis: </a:t>
            </a:r>
            <a:r>
              <a:rPr sz="900">
                <a:solidFill>
                  <a:srgbClr val="1E293B"/>
                </a:solidFill>
                <a:latin typeface="Calibri"/>
              </a:rPr>
              <a:t>Unifies RFC MIME Forensic Parsers, Cryptographic DNS Alignment Matrices, and 3D Geospatial Threat Visualizers into a cohesive, zero-latency workstation.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94560" y="137160"/>
            <a:ext cx="7406640" cy="868680"/>
          </a:xfrm>
        </p:spPr>
        <p:txBody>
          <a:bodyPr wrap="square"/>
          <a:lstStyle/>
          <a:p>
            <a:pPr eaLnBrk="1" hangingPunct="1"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Arial"/>
              </a:rPr>
              <a:t>IMPLEMENTATION METHODOLOGY &amp; HIERARCHICAL ARCHITECTURE</a:t>
            </a:r>
          </a:p>
          <a:p>
            <a:r>
              <a:rPr sz="1700" b="1">
                <a:solidFill>
                  <a:srgbClr val="0B2545"/>
                </a:solidFill>
                <a:latin typeface="Arial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algn="ctr">
              <a:defRPr sz="850">
                <a:solidFill>
                  <a:srgbClr val="475569"/>
                </a:solidFill>
                <a:latin typeface="Calibri"/>
              </a:defRPr>
            </a:pPr>
            <a:r>
              <a:t>Smart India Hackathon 2026  |  Problem Statement ID: SIH26106  |  Team CyberCore  |  CVR College of Engineering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CyberCore Slide 3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188720"/>
            <a:ext cx="54406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IMPLEMENTATION PIPELINE &amp; METHODOLOGY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[Stage 1] Multi-Vector Ingestion
</a:t>
            </a:r>
            <a:r>
              <a:rPr sz="900">
                <a:solidFill>
                  <a:srgbClr val="1E293B"/>
                </a:solidFill>
                <a:latin typeface="Calibri"/>
              </a:rPr>
              <a:t>Accepts .eml / .msg drag-and-drop, raw RFC 822 pasted headers, and simulated live SOC telemetry feeds.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[Stage 2] Recursive MIME Disassembly
</a:t>
            </a:r>
            <a:r>
              <a:rPr sz="900">
                <a:solidFill>
                  <a:srgbClr val="1E293B"/>
                </a:solidFill>
                <a:latin typeface="Calibri"/>
              </a:rPr>
              <a:t>Traverses MIME tree to extract Header-From, Envelope-From, Return-Path, transit Received: hops, URLs, and attachment SHA-256 hashes.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[Stage 3] Cryptographic Matrix Check
</a:t>
            </a:r>
            <a:r>
              <a:rPr sz="900">
                <a:solidFill>
                  <a:srgbClr val="1E293B"/>
                </a:solidFill>
                <a:latin typeface="Calibri"/>
              </a:rPr>
              <a:t>Simultaneously validates SPF (RFC 7208), DKIM (RFC 6376), and DMARC (RFC 7489) authentication and domain alignment.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[Stage 4] Geolocation &amp; Threat Scoring
</a:t>
            </a:r>
            <a:r>
              <a:rPr sz="900">
                <a:solidFill>
                  <a:srgbClr val="1E293B"/>
                </a:solidFill>
                <a:latin typeface="Calibri"/>
              </a:rPr>
              <a:t>Extracts connecting MTA IP from Received headers; resolves coordinates and maps adversary origin infrastructure to a 0–100 threat score.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[Stage 5] Visualization &amp; Actionable SOAR
</a:t>
            </a:r>
            <a:r>
              <a:rPr sz="900">
                <a:solidFill>
                  <a:srgbClr val="1E293B"/>
                </a:solidFill>
                <a:latin typeface="Calibri"/>
              </a:rPr>
              <a:t>Renders 3D attack trajectory on Earth globe and generates printable PDF forensic incident dossiers.</a:t>
            </a:r>
          </a:p>
          <a:p>
            <a:pPr>
              <a:spcBef>
                <a:spcPts val="400"/>
              </a:spcBef>
            </a:pPr>
            <a:r>
              <a:rPr sz="850" i="1">
                <a:solidFill>
                  <a:srgbClr val="475569"/>
                </a:solidFill>
                <a:latin typeface="Calibri"/>
              </a:rPr>
              <a:t>★ Steve Jobs Synthesis Analogy:
Just as the iPhone synthesized a phone, an iPod, and an internet communicator into one device, ThreatLens synthesizes MIME Parsers, Cryptographic DNS Validators, and 3D Spatial Maps into one pocket workstation.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989320" y="1188720"/>
            <a:ext cx="580644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HIERARCHICAL TECHNOLOGY STACK (BY LAYER)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Layer 4: Deployment &amp; Edge Delivery
</a:t>
            </a:r>
            <a:r>
              <a:rPr sz="900" b="1">
                <a:solidFill>
                  <a:srgbClr val="16A34A"/>
                </a:solidFill>
                <a:latin typeface="Arial"/>
              </a:rPr>
              <a:t>Tech Stack: Vercel Global Edge Network
</a:t>
            </a:r>
            <a:r>
              <a:rPr sz="850">
                <a:solidFill>
                  <a:srgbClr val="1E293B"/>
                </a:solidFill>
                <a:latin typeface="Calibri"/>
              </a:rPr>
              <a:t>Sub-second global latency, serverless edge caching, automated preview deployment pipelines.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Layer 3: Application &amp; Visual SOC UX
</a:t>
            </a:r>
            <a:r>
              <a:rPr sz="900" b="1">
                <a:solidFill>
                  <a:srgbClr val="16A34A"/>
                </a:solidFill>
                <a:latin typeface="Arial"/>
              </a:rPr>
              <a:t>Tech Stack: Next.js + Three.js + Tailwind CSS
</a:t>
            </a:r>
            <a:r>
              <a:rPr sz="850">
                <a:solidFill>
                  <a:srgbClr val="1E293B"/>
                </a:solidFill>
                <a:latin typeface="Calibri"/>
              </a:rPr>
              <a:t>Next.js (Server/Client hybrid rendering architecture), Three.js (WebGL 3D Earth globe with raycasting), Tailwind CSS, Lucide security icons.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Layer 2: Forensic &amp; Cryptographic Core
</a:t>
            </a:r>
            <a:r>
              <a:rPr sz="900" b="1">
                <a:solidFill>
                  <a:srgbClr val="16A34A"/>
                </a:solidFill>
                <a:latin typeface="Arial"/>
              </a:rPr>
              <a:t>Tech Stack: Browser DOM RFC 822 Engine + DoH
</a:t>
            </a:r>
            <a:r>
              <a:rPr sz="850">
                <a:solidFill>
                  <a:srgbClr val="1E293B"/>
                </a:solidFill>
                <a:latin typeface="Calibri"/>
              </a:rPr>
              <a:t>Client-side RFC 822/5322 MIME parser, SHA-256 Web Crypto API, DNS-over-HTTPS (DoH Cloudflare/Google 1.1.1.1) for live DNS TXT lookups.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Layer 1: Telemetry &amp; Intelligence Corroboration
</a:t>
            </a:r>
            <a:r>
              <a:rPr sz="900" b="1">
                <a:solidFill>
                  <a:srgbClr val="16A34A"/>
                </a:solidFill>
                <a:latin typeface="Arial"/>
              </a:rPr>
              <a:t>Tech Stack: MITRE ATT&amp;CK + MaxMind GeoLite2
</a:t>
            </a:r>
            <a:r>
              <a:rPr sz="850">
                <a:solidFill>
                  <a:srgbClr val="1E293B"/>
                </a:solidFill>
                <a:latin typeface="Calibri"/>
              </a:rPr>
              <a:t>MaxMind IP coordinate mapping, MITRE ATT&amp;CK Enterprise Matrix (v14), IOC reputation corpus (Malicious IPs, Domains, Hashes).</a:t>
            </a:r>
          </a:p>
          <a:p>
            <a:pPr>
              <a:spcBef>
                <a:spcPts val="400"/>
              </a:spcBef>
            </a:pPr>
            <a:r>
              <a:rPr sz="850">
                <a:solidFill>
                  <a:srgbClr val="475569"/>
                </a:solidFill>
                <a:latin typeface="Calibri"/>
              </a:rPr>
              <a:t>★ Data Outreach &amp; Nodal Agency Integration:
Leveraging authentic datasets from data.gov.in (Open Government Data Platform India) and CERT-In incident advisories; outreach initiated for Indian Cyber Crime Coordination Centre (I4C) threat feeds.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94560" y="137160"/>
            <a:ext cx="7406640" cy="868680"/>
          </a:xfrm>
        </p:spPr>
        <p:txBody>
          <a:bodyPr wrap="square"/>
          <a:lstStyle/>
          <a:p>
            <a:pPr eaLnBrk="1" hangingPunct="1"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Arial"/>
              </a:rPr>
              <a:t>PARSIMONY PRINCIPLE (OCCAM'S RAZOR) &amp; RISK MITIGATION</a:t>
            </a:r>
          </a:p>
          <a:p>
            <a:r>
              <a:rPr sz="1700" b="1">
                <a:solidFill>
                  <a:srgbClr val="0B2545"/>
                </a:solidFill>
                <a:latin typeface="Arial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">
                <a:solidFill>
                  <a:srgbClr val="475569"/>
                </a:solidFill>
                <a:latin typeface="Calibri"/>
              </a:defRPr>
            </a:pPr>
            <a:r>
              <a:t>Smart India Hackathon 2026  |  Problem Statement ID: SIH26106  |  Team CyberCore  |  CVR College of Engineering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CyberCore Slide 4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188720"/>
            <a:ext cx="54406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TECHNICAL FEASIBILITY &amp; OCCAM'S RAZOR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• Browser DOM Client-Side Execution:
  </a:t>
            </a:r>
            <a:r>
              <a:rPr sz="900">
                <a:solidFill>
                  <a:srgbClr val="1E293B"/>
                </a:solidFill>
                <a:latin typeface="Calibri"/>
              </a:rPr>
              <a:t>Next.js handles MIME disassembly, regex parsing, and cryptographic checks strictly in the client's browser DOM using native Web APIs. The sensitive email payload is NEVER POSTed to any backend server.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• 100% Data Privacy Guaranteed:
  </a:t>
            </a:r>
            <a:r>
              <a:rPr sz="900">
                <a:solidFill>
                  <a:srgbClr val="1E293B"/>
                </a:solidFill>
                <a:latin typeface="Calibri"/>
              </a:rPr>
              <a:t>Complies fully with India's Digital Personal Data Protection (DPDP) Act 2023 and GDPR—eliminating the severe corporate data breach risk inherent in commercial cloud sandbox competitors.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• Zero Cloud Compute Footprint:
  </a:t>
            </a:r>
            <a:r>
              <a:rPr sz="900">
                <a:solidFill>
                  <a:srgbClr val="1E293B"/>
                </a:solidFill>
                <a:latin typeface="Calibri"/>
              </a:rPr>
              <a:t>Eliminates expensive GPU/server clusters. Runs effortlessly on standard SOC workstation laptops with sub-second response times.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• Empirically Verified Working Prototype:
  </a:t>
            </a:r>
            <a:r>
              <a:rPr sz="900">
                <a:solidFill>
                  <a:srgbClr val="1E293B"/>
                </a:solidFill>
                <a:latin typeface="Calibri"/>
              </a:rPr>
              <a:t>Fully deployed at threatlens-gen.vercel.app with 64/64 automated test passes across real-world adversarial email payloads, malformed headers, and folded lines.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989320" y="1188720"/>
            <a:ext cx="580644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POTENTIAL CHALLENGES &amp; ACTIVE MITIGATIONS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Risk 1: Compromised Legitimate Relays
</a:t>
            </a:r>
            <a:r>
              <a:rPr sz="850">
                <a:solidFill>
                  <a:srgbClr val="1E293B"/>
                </a:solidFill>
                <a:latin typeface="Calibri"/>
              </a:rPr>
              <a:t>Challenge: Attacker compromises legitimate M365/SendGrid accounts where SPF/DKIM legitimately PASS.
</a:t>
            </a:r>
            <a:r>
              <a:rPr sz="850" b="1">
                <a:solidFill>
                  <a:srgbClr val="16A34A"/>
                </a:solidFill>
                <a:latin typeface="Calibri"/>
              </a:rPr>
              <a:t>Defense: MITIGATION: Multi-vector heuristic detection flags Display-Name impersonation, Header vs. Envelope mismatches, and Cousin-Domain age even when cryptographic checks pass.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Risk 2: Image-Only &amp; QR Quishing Traps
</a:t>
            </a:r>
            <a:r>
              <a:rPr sz="850">
                <a:solidFill>
                  <a:srgbClr val="1E293B"/>
                </a:solidFill>
                <a:latin typeface="Calibri"/>
              </a:rPr>
              <a:t>Challenge: Adversaries embed malicious URLs inside QR code images, bypassing standard text-based URL parsers.
</a:t>
            </a:r>
            <a:r>
              <a:rPr sz="850" b="1">
                <a:solidFill>
                  <a:srgbClr val="16A34A"/>
                </a:solidFill>
                <a:latin typeface="Calibri"/>
              </a:rPr>
              <a:t>Defense: MITIGATION: Integrated client-side HTML5 canvas image decoder analyzes embedded QR codes and extracts underlying redirect links directly during MIME traversal.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B2545"/>
                </a:solidFill>
                <a:latin typeface="Arial"/>
              </a:rPr>
              <a:t>Risk 3: Large / Malformed .eml Payloads
</a:t>
            </a:r>
            <a:r>
              <a:rPr sz="850">
                <a:solidFill>
                  <a:srgbClr val="1E293B"/>
                </a:solidFill>
                <a:latin typeface="Calibri"/>
              </a:rPr>
              <a:t>Challenge: Oversized attachments or malformed RFC headers crashing browser memory threads.
</a:t>
            </a:r>
            <a:r>
              <a:rPr sz="850" b="1">
                <a:solidFill>
                  <a:srgbClr val="16A34A"/>
                </a:solidFill>
                <a:latin typeface="Calibri"/>
              </a:rPr>
              <a:t>Defense: MITIGATION: Streaming non-blocking Web Worker parser with configurable byte-boundary limits and payload truncation safeguards.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94560" y="137160"/>
            <a:ext cx="7406640" cy="868680"/>
          </a:xfrm>
        </p:spPr>
        <p:txBody>
          <a:bodyPr wrap="square"/>
          <a:lstStyle/>
          <a:p>
            <a:pPr eaLnBrk="1" hangingPunct="1"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Arial"/>
              </a:rPr>
              <a:t>NATIONAL CYBER DEFENSE, LEA EMPOWERMENT &amp; OPERATIONAL ROI</a:t>
            </a:r>
          </a:p>
          <a:p>
            <a:r>
              <a:rPr sz="1700" b="1">
                <a:solidFill>
                  <a:srgbClr val="0B2545"/>
                </a:solidFill>
                <a:latin typeface="Arial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">
                <a:solidFill>
                  <a:srgbClr val="475569"/>
                </a:solidFill>
                <a:latin typeface="Calibri"/>
              </a:defRPr>
            </a:pPr>
            <a:r>
              <a:t>Smart India Hackathon 2026  |  Problem Statement ID: SIH26106  |  Team CyberCore  |  CVR College of Engineering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CyberCore Slide 5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188720"/>
            <a:ext cx="36118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NATIONAL &amp; ECONOMIC DEFENSE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Targeting ₹1,750+ Cr Fraud:
  </a:t>
            </a:r>
            <a:r>
              <a:rPr sz="850">
                <a:solidFill>
                  <a:srgbClr val="1E293B"/>
                </a:solidFill>
                <a:latin typeface="Calibri"/>
              </a:rPr>
              <a:t>Directly addresses the rampant financial cyber fraud losses reported by the Ministry of Home Affairs (MHA) and Indian Cyber Crime Coordination Centre (I4C) from corporate BEC and banking credential phishing.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Critical Infrastructure Shield:
  </a:t>
            </a:r>
            <a:r>
              <a:rPr sz="850">
                <a:solidFill>
                  <a:srgbClr val="1E293B"/>
                </a:solidFill>
                <a:latin typeface="Calibri"/>
              </a:rPr>
              <a:t>Protects Indian PSUs, defense establishments, and public sectors from advanced spearphishing impersonating nic.in and gov.in domains.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Democratizing Security:
  </a:t>
            </a:r>
            <a:r>
              <a:rPr sz="850">
                <a:solidFill>
                  <a:srgbClr val="1E293B"/>
                </a:solidFill>
                <a:latin typeface="Calibri"/>
              </a:rPr>
              <a:t>Delivers high-grade email forensic capabilities to Indian MSMEs, schools, and hospitals that cannot afford ₹15–20 Lakh annual enterprise SEG licensing fees.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60520" y="1188720"/>
            <a:ext cx="36118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LAW ENFORCEMENT EMPOWERMENT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Accelerating Cyber Police:
  </a:t>
            </a:r>
            <a:r>
              <a:rPr sz="850">
                <a:solidFill>
                  <a:srgbClr val="1E293B"/>
                </a:solidFill>
                <a:latin typeface="Calibri"/>
              </a:rPr>
              <a:t>Equips state cyber cells (Telangana Cyber Security Bureau - TGCSB, Maharashtra Cyber, Delhi Cyber Police) with instant origin IP geolocation, transit MTA hop tracing, and ISP identification.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Section 65B BSA Evidence:
  </a:t>
            </a:r>
            <a:r>
              <a:rPr sz="850">
                <a:solidFill>
                  <a:srgbClr val="1E293B"/>
                </a:solidFill>
                <a:latin typeface="Calibri"/>
              </a:rPr>
              <a:t>Automated PDF exports generate structured evidence packages compliant with Section 65B of the Indian Evidence Act / Bharatiya Sakshya Adhiniyam (BSA) for accelerated FIR registration and formal judicial submission.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Tackling BEC Hubs:
  </a:t>
            </a:r>
            <a:r>
              <a:rPr sz="850">
                <a:solidFill>
                  <a:srgbClr val="1E293B"/>
                </a:solidFill>
                <a:latin typeface="Calibri"/>
              </a:rPr>
              <a:t>Exposes international money-mule relay corridors targeting Indian corporate treasury desks.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955279" y="1188720"/>
            <a:ext cx="38404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OPERATIONAL &amp; SUSTAINABLE ROI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80% Reduction in MTTR:
  </a:t>
            </a:r>
            <a:r>
              <a:rPr sz="850">
                <a:solidFill>
                  <a:srgbClr val="1E293B"/>
                </a:solidFill>
                <a:latin typeface="Calibri"/>
              </a:rPr>
              <a:t>Slashes Mean Time to Triage from 25 minutes of manual terminal inspection down to under 5 seconds per suspicious email.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100% Privacy Compliance:
  </a:t>
            </a:r>
            <a:r>
              <a:rPr sz="850">
                <a:solidFill>
                  <a:srgbClr val="1E293B"/>
                </a:solidFill>
                <a:latin typeface="Calibri"/>
              </a:rPr>
              <a:t>Eliminates compliance breach liabilities under the DPDP Act 2023 by ensuring email payloads never leave the local browser memory.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Green Serverless Footprint:
  </a:t>
            </a:r>
            <a:r>
              <a:rPr sz="850">
                <a:solidFill>
                  <a:srgbClr val="1E293B"/>
                </a:solidFill>
                <a:latin typeface="Calibri"/>
              </a:rPr>
              <a:t>Runs entirely on existing client workstation compute, requiring zero 24/7 dedicated cloud GPU server energy.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Democratized SOC Triage:
  </a:t>
            </a:r>
            <a:r>
              <a:rPr sz="850">
                <a:solidFill>
                  <a:srgbClr val="1E293B"/>
                </a:solidFill>
                <a:latin typeface="Calibri"/>
              </a:rPr>
              <a:t>Enables junior Level-1 analysts to conduct Level-3 deep forensic triage without specialized training.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94560" y="137160"/>
            <a:ext cx="7406640" cy="868680"/>
          </a:xfrm>
        </p:spPr>
        <p:txBody>
          <a:bodyPr wrap="square"/>
          <a:lstStyle/>
          <a:p>
            <a:pPr eaLnBrk="1" hangingPunct="1"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Arial"/>
              </a:rPr>
              <a:t>STANDARDS REVIEW, PRIOR ART GAP CLOSURE &amp; TEAM PERSONA</a:t>
            </a:r>
          </a:p>
          <a:p>
            <a:r>
              <a:rPr sz="1700" b="1">
                <a:solidFill>
                  <a:srgbClr val="0B2545"/>
                </a:solidFill>
                <a:latin typeface="Arial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">
                <a:solidFill>
                  <a:srgbClr val="475569"/>
                </a:solidFill>
                <a:latin typeface="Calibri"/>
              </a:defRPr>
            </a:pPr>
            <a:r>
              <a:t>Smart India Hackathon 2026  |  Problem Statement ID: SIH26106  |  Team CyberCore  |  CVR College of Engineering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CyberCore Slide 6"/>
          <p:cNvSpPr/>
          <p:nvPr/>
        </p:nvSpPr>
        <p:spPr>
          <a:xfrm>
            <a:off x="365760" y="164592"/>
            <a:ext cx="1645920" cy="749808"/>
          </a:xfrm>
          <a:prstGeom prst="ellipse">
            <a:avLst/>
          </a:prstGeom>
          <a:solidFill>
            <a:srgbClr val="EA580C"/>
          </a:solidFill>
          <a:ln w="2794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CyberCore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188720"/>
            <a:ext cx="365760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STANDARDS CRITIQUE &amp; GAPS CLOSED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RFC Standards (5322, 7208, 6376, 7489):
</a:t>
            </a:r>
            <a:r>
              <a:rPr sz="850">
                <a:solidFill>
                  <a:srgbClr val="1E293B"/>
                </a:solidFill>
                <a:latin typeface="Calibri"/>
              </a:rPr>
              <a:t>Prior Art Gap: Protocols define authentication primitives in isolation; existing tools fail to provide a single-pane synthesized alignment view.
ThreatLens Solution: Correlates SPF, DKIM, and DMARC simultaneously with automated policy diagnostics and raw DNS TXT snippets.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• MITRE ATT&amp;CK Enterprise Matrix (v14):
</a:t>
            </a:r>
            <a:r>
              <a:rPr sz="850">
                <a:solidFill>
                  <a:srgbClr val="1E293B"/>
                </a:solidFill>
                <a:latin typeface="Calibri"/>
              </a:rPr>
              <a:t>Prior Art Gap: Analysts manually correlate log alerts to ATT&amp;CK tactics.
ThreatLens Solution: Automatically maps parsed header irregularities to T1566 (Phishing), T1566.001 (Attachment), and T1566.002 (Link).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06240" y="1188720"/>
            <a:ext cx="365760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GOVERNMENT &amp; INDUSTRY REFERENCES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1. NIST SP 800-177 Rev. 1:
</a:t>
            </a:r>
            <a:r>
              <a:rPr sz="850">
                <a:solidFill>
                  <a:srgbClr val="1E293B"/>
                </a:solidFill>
                <a:latin typeface="Calibri"/>
              </a:rPr>
              <a:t>Trustworthy Email Guide (Architectural foundation for cryptographic verification).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2. CERT-In Incident Advisories:
</a:t>
            </a:r>
            <a:r>
              <a:rPr sz="850">
                <a:solidFill>
                  <a:srgbClr val="1E293B"/>
                </a:solidFill>
                <a:latin typeface="Calibri"/>
              </a:rPr>
              <a:t>Empirical benchmark for prevalent Indian malware droppers and credential phishing campaigns.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3. I4C (Ministry of Home Affairs):
</a:t>
            </a:r>
            <a:r>
              <a:rPr sz="850">
                <a:solidFill>
                  <a:srgbClr val="1E293B"/>
                </a:solidFill>
                <a:latin typeface="Calibri"/>
              </a:rPr>
              <a:t>National cyber fraud statistics and Citizen Financial Cyber Fraud Reporting System.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B2545"/>
                </a:solidFill>
                <a:latin typeface="Arial"/>
              </a:rPr>
              <a:t>4. AbuseIPDB &amp; URLhaus:
</a:t>
            </a:r>
            <a:r>
              <a:rPr sz="850">
                <a:solidFill>
                  <a:srgbClr val="1E293B"/>
                </a:solidFill>
                <a:latin typeface="Calibri"/>
              </a:rPr>
              <a:t>Active blacklists and known malicious MTA exit node intelligence feeds.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46720" y="1188720"/>
            <a:ext cx="3749039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TEAM PERSONA &amp; RESEARCH ETHOS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EA580C"/>
                </a:solidFill>
                <a:latin typeface="Arial"/>
              </a:rPr>
              <a:t>ENGINEERED BY TEAM CYBERCORE
</a:t>
            </a:r>
            <a:r>
              <a:rPr sz="900" b="1">
                <a:solidFill>
                  <a:srgbClr val="0B2545"/>
                </a:solidFill>
                <a:latin typeface="Arial"/>
              </a:rPr>
              <a:t>Department of CSE (Cyber Security)
CVR College of Engineering
</a:t>
            </a:r>
            <a:r>
              <a:rPr sz="850">
                <a:solidFill>
                  <a:srgbClr val="1E293B"/>
                </a:solidFill>
                <a:latin typeface="Calibri"/>
              </a:rPr>
              <a:t>Our research ethos stems from direct frontline engagement with the practical bottlenecks of SOC Tier-1 analysts and Indian law enforcement agencies.
Rather than proposing impractical, over-engineered theoretical models, ThreatLens AI enforces strict client-side data privacy, parsimonious execution, and actionable operational defense designed to stop real-world cyber fraud.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